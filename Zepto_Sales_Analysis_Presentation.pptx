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09-Oct-26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0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5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5029200" cy="5486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400" b="1">
                <a:solidFill>
                  <a:srgbClr val="D75BC6"/>
                </a:solidFill>
                <a:latin typeface="Aptos"/>
              </a:rPr>
              <a:t>ZEPTO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7132320" cy="1645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Sales Analysis
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3152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0">
                <a:solidFill>
                  <a:srgbClr val="E1D7E7"/>
                </a:solidFill>
                <a:latin typeface="Aptos"/>
              </a:rPr>
              <a:t>Excel analytics project | Interactive reporting | Quick-commerce insights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2743200" cy="105156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12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4873752"/>
            <a:ext cx="241401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257800"/>
            <a:ext cx="2414016" cy="4297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5,000 order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754880"/>
            <a:ext cx="2743200" cy="105156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D75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22191" y="4873752"/>
            <a:ext cx="241401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DATA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1" y="5257800"/>
            <a:ext cx="2414016" cy="4297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21 order-level fields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754880"/>
            <a:ext cx="3017520" cy="105156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73C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48272" y="4873752"/>
            <a:ext cx="268833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REPORTING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5257800"/>
            <a:ext cx="2688336" cy="4297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KPIs + interactive slicer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6080760"/>
            <a:ext cx="21945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000" b="0">
                <a:solidFill>
                  <a:srgbClr val="E1D7E7"/>
                </a:solidFill>
                <a:latin typeface="Aptos"/>
              </a:rPr>
              <a:t>Portfolio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0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Project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E1D7E7"/>
                </a:solidFill>
                <a:latin typeface="Aptos"/>
              </a:rPr>
              <a:t>Turning order-level data into a decision-friendly Excel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474720" cy="137160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12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536192"/>
            <a:ext cx="314553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BUSINESS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920240"/>
            <a:ext cx="3145536" cy="7498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Understand sales mix, customer preferences, and delivery outcomes.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17320"/>
            <a:ext cx="3474720" cy="137160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D75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07992" y="1536192"/>
            <a:ext cx="314553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ANALYTICAL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1920240"/>
            <a:ext cx="3145536" cy="7498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Summaries, pivot-style aggregations, KPIs, and chart-based comparisons.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474720" cy="137160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73C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11312" y="1536192"/>
            <a:ext cx="314553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INTERACTION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920240"/>
            <a:ext cx="3145536" cy="7498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Order Month slicer supports month-level dashboard exploration.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54864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Questions the dashboard helps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94760"/>
            <a:ext cx="1042416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0">
                <a:solidFill>
                  <a:srgbClr val="E1D7E7"/>
                </a:solidFill>
                <a:latin typeface="Aptos"/>
              </a:rPr>
              <a:t>•  Which products and brands appear most often in the selected period?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33672"/>
            <a:ext cx="1042416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0">
                <a:solidFill>
                  <a:srgbClr val="E1D7E7"/>
                </a:solidFill>
                <a:latin typeface="Aptos"/>
              </a:rPr>
              <a:t>•  How does demand vary by category and city?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72584"/>
            <a:ext cx="1042416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0">
                <a:solidFill>
                  <a:srgbClr val="E1D7E7"/>
                </a:solidFill>
                <a:latin typeface="Aptos"/>
              </a:rPr>
              <a:t>•  Which seller stores contribute the largest share?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11496"/>
            <a:ext cx="1042416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0">
                <a:solidFill>
                  <a:srgbClr val="E1D7E7"/>
                </a:solidFill>
                <a:latin typeface="Aptos"/>
              </a:rPr>
              <a:t>•  What are the delivery-status and payment-mode distributions?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550408"/>
            <a:ext cx="1042416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0">
                <a:solidFill>
                  <a:srgbClr val="E1D7E7"/>
                </a:solidFill>
                <a:latin typeface="Aptos"/>
              </a:rPr>
              <a:t>•  What are the headline delivery-time and customer-rating metrics?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0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Dashboard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E1D7E7"/>
                </a:solidFill>
                <a:latin typeface="Aptos"/>
              </a:rPr>
              <a:t>The supplied screenshot shows April selected in the Order Month slicer</a:t>
            </a:r>
          </a:p>
        </p:txBody>
      </p:sp>
      <p:pic>
        <p:nvPicPr>
          <p:cNvPr id="4" name="Picture 3" descr="Dashboard_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27" y="1870423"/>
            <a:ext cx="11064240" cy="39858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0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KPI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E1D7E7"/>
                </a:solidFill>
                <a:latin typeface="Aptos"/>
              </a:rPr>
              <a:t>Values visible in the supplied dashboard image; confirm metric definitions in the workbook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150876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12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581912"/>
            <a:ext cx="305409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TOTAL AMOUNT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65960"/>
            <a:ext cx="3054096" cy="8869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$374,205.87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63040"/>
            <a:ext cx="3383280" cy="150876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D75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1581912"/>
            <a:ext cx="305409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AVG. DELIVERY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965960"/>
            <a:ext cx="3054096" cy="8869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53:18 shown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150876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73C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11312" y="1581912"/>
            <a:ext cx="305409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AVG. RATING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965960"/>
            <a:ext cx="3054096" cy="88696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3.5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50292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Important interpretation notes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06240"/>
            <a:ext cx="102412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>
                <a:solidFill>
                  <a:srgbClr val="E1D7E7"/>
                </a:solidFill>
                <a:latin typeface="Aptos"/>
              </a:rPr>
              <a:t>•  The screenshot is filtered to April, so these are period-specific values.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36592"/>
            <a:ext cx="102412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>
                <a:solidFill>
                  <a:srgbClr val="E1D7E7"/>
                </a:solidFill>
                <a:latin typeface="Aptos"/>
              </a:rPr>
              <a:t>•  The delivery-time card displays “53:18 Mint”; verify the underlying calculation and number format before reporting it as minutes.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66944"/>
            <a:ext cx="10241280" cy="43891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>
                <a:solidFill>
                  <a:srgbClr val="E1D7E7"/>
                </a:solidFill>
                <a:latin typeface="Aptos"/>
              </a:rPr>
              <a:t>•  The workbook's full dataset contains 5,000 rows dated from Jan 1 to Oct 1, 2025.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0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Product and sales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E1D7E7"/>
                </a:solidFill>
                <a:latin typeface="Aptos"/>
              </a:rPr>
              <a:t>Use category, product, and brand rankings to spot high-interest items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474720" cy="182880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12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1536192"/>
            <a:ext cx="314553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TOP CATEGORIES SHOWN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20240"/>
            <a:ext cx="3145536" cy="12070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Sauces &amp; Spreads
Cold Drinks &amp; Juices
Pet Care
Dairy &amp; Breakfast
Atta Rice &amp; Dal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74720" cy="182880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D75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1536192"/>
            <a:ext cx="314553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BRAND RANKING SHOWN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53712" y="1920240"/>
            <a:ext cx="3145536" cy="12070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HUL — 59
Kissan — 46
Coca-Cola — 41
Mars — 39
Amul — 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17320"/>
            <a:ext cx="3474720" cy="182880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73C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11312" y="1536192"/>
            <a:ext cx="314553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PRODUCT RANKING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1920240"/>
            <a:ext cx="3145536" cy="12070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The left panel ranks products by the measure used in the dashboard. Check pivot value settings before describing it as units, orders, or revenue.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886200"/>
            <a:ext cx="45720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Possible business 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389120"/>
            <a:ext cx="1014984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0">
                <a:solidFill>
                  <a:srgbClr val="E1D7E7"/>
                </a:solidFill>
                <a:latin typeface="Aptos"/>
              </a:rPr>
              <a:t>Use the selected-period rankings to guide assortment reviews, promotional planning, and category-level follow-up. Compare multiple months before treating one month's leaders as a sustained trend.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0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Delivery and customer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E1D7E7"/>
                </a:solidFill>
                <a:latin typeface="Aptos"/>
              </a:rPr>
              <a:t>Operational indicators shown in the dashboard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554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Delivered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1527048"/>
            <a:ext cx="7040880" cy="256032"/>
          </a:xfrm>
          <a:prstGeom prst="roundRect">
            <a:avLst/>
          </a:prstGeom>
          <a:solidFill>
            <a:srgbClr val="4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377440" y="1527048"/>
            <a:ext cx="5421477" cy="256032"/>
          </a:xfrm>
          <a:prstGeom prst="roundRect">
            <a:avLst/>
          </a:prstGeom>
          <a:solidFill>
            <a:srgbClr val="127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46920" y="1490472"/>
            <a:ext cx="914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77%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67712"/>
            <a:ext cx="1554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Returned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286000"/>
            <a:ext cx="7040880" cy="256032"/>
          </a:xfrm>
          <a:prstGeom prst="roundRect">
            <a:avLst/>
          </a:prstGeom>
          <a:solidFill>
            <a:srgbClr val="4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77440" y="2286000"/>
            <a:ext cx="633679" cy="256032"/>
          </a:xfrm>
          <a:prstGeom prst="roundRect">
            <a:avLst/>
          </a:prstGeom>
          <a:solidFill>
            <a:srgbClr val="D75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46920" y="2249424"/>
            <a:ext cx="914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26663"/>
            <a:ext cx="1554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Delayed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3044951"/>
            <a:ext cx="7040880" cy="256032"/>
          </a:xfrm>
          <a:prstGeom prst="roundRect">
            <a:avLst/>
          </a:prstGeom>
          <a:solidFill>
            <a:srgbClr val="4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377440" y="3044951"/>
            <a:ext cx="492861" cy="256032"/>
          </a:xfrm>
          <a:prstGeom prst="roundRect">
            <a:avLst/>
          </a:prstGeom>
          <a:solidFill>
            <a:srgbClr val="F784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46920" y="3008375"/>
            <a:ext cx="914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85615"/>
            <a:ext cx="15544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Cancelled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3803903"/>
            <a:ext cx="7040880" cy="256032"/>
          </a:xfrm>
          <a:prstGeom prst="roundRect">
            <a:avLst/>
          </a:prstGeom>
          <a:solidFill>
            <a:srgbClr val="452D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377440" y="3803903"/>
            <a:ext cx="422452" cy="256032"/>
          </a:xfrm>
          <a:prstGeom prst="roundRect">
            <a:avLst/>
          </a:prstGeom>
          <a:solidFill>
            <a:srgbClr val="73C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46920" y="3767328"/>
            <a:ext cx="91440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6%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892040"/>
            <a:ext cx="5029200" cy="91440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D75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5010912"/>
            <a:ext cx="470001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FOLLOW-UP IDEA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5202936"/>
            <a:ext cx="4700016" cy="2926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Investigate returned, delayed, and cancelled orders by store and category.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892040"/>
            <a:ext cx="5029200" cy="91440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12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5010912"/>
            <a:ext cx="470001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DATA QUALITY 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5221224"/>
            <a:ext cx="4700016" cy="2926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dirty="0">
                <a:solidFill>
                  <a:srgbClr val="FFFFFF"/>
                </a:solidFill>
                <a:latin typeface="Aptos"/>
              </a:rPr>
              <a:t>Confirm rating coverage and the delivery-time measure before drawing conclusions.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0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Payment modes and seller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E1D7E7"/>
                </a:solidFill>
                <a:latin typeface="Aptos"/>
              </a:rPr>
              <a:t>Compare customer payment preferences and relative store activity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4937760" cy="192024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12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7551" y="1554480"/>
            <a:ext cx="460857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dirty="0">
                <a:solidFill>
                  <a:srgbClr val="D75BC6"/>
                </a:solidFill>
                <a:latin typeface="Aptos"/>
              </a:rPr>
              <a:t>PAYMENT MODE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1" y="1765810"/>
            <a:ext cx="4773169" cy="16804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 dirty="0">
                <a:solidFill>
                  <a:srgbClr val="FFFFFF"/>
                </a:solidFill>
                <a:latin typeface="Aptos"/>
              </a:rPr>
              <a:t>Debit Card — 51%
Credit Card — 49%
The visible chart appears to focus on card payments; inspect pivot filters for the full payment mix.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08760"/>
            <a:ext cx="4937760" cy="192024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D75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65392" y="1627631"/>
            <a:ext cx="4608576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TOP STORES SHOWN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011680"/>
            <a:ext cx="4608576" cy="12984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KOL-DS2 — 11%
GUR-DS3 — 11%
NOI-DS3 — 10%
NOI-DS1 — 10%
Several other stores — 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36576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Analysis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17720"/>
            <a:ext cx="10241280" cy="6340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0" dirty="0">
                <a:solidFill>
                  <a:srgbClr val="E1D7E7"/>
                </a:solidFill>
                <a:latin typeface="Aptos"/>
              </a:rPr>
              <a:t>Check whether store-level differences persist across months</a:t>
            </a:r>
            <a:r>
              <a:rPr lang="en-US" sz="1700" dirty="0">
                <a:solidFill>
                  <a:srgbClr val="E1D7E7"/>
                </a:solidFill>
                <a:latin typeface="Aptos"/>
              </a:rPr>
              <a:t> </a:t>
            </a:r>
            <a:r>
              <a:rPr sz="1700" b="0" dirty="0">
                <a:solidFill>
                  <a:srgbClr val="E1D7E7"/>
                </a:solidFill>
                <a:latin typeface="Aptos"/>
              </a:rPr>
              <a:t>and compare delivery outcomes alongside store activity to avoid ranking stores on volume alone.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0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Excel workflow and skills demonstrated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E1D7E7"/>
                </a:solidFill>
                <a:latin typeface="Aptos"/>
              </a:rPr>
              <a:t>A portfolio-friendly summary of the work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325880"/>
            <a:ext cx="566928" cy="566928"/>
          </a:xfrm>
          <a:prstGeom prst="ellipse">
            <a:avLst/>
          </a:prstGeom>
          <a:solidFill>
            <a:srgbClr val="127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426464"/>
            <a:ext cx="56692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25880"/>
            <a:ext cx="18288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D75BC6"/>
                </a:solidFill>
                <a:latin typeface="Aptos"/>
              </a:rPr>
              <a:t>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325880"/>
            <a:ext cx="7955279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Organize 5,000 records across 21 order-level fields.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267712"/>
            <a:ext cx="566928" cy="566928"/>
          </a:xfrm>
          <a:prstGeom prst="ellipse">
            <a:avLst/>
          </a:prstGeom>
          <a:solidFill>
            <a:srgbClr val="D75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368296"/>
            <a:ext cx="56692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67712"/>
            <a:ext cx="18288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D75BC6"/>
                </a:solidFill>
                <a:latin typeface="Aptos"/>
              </a:rPr>
              <a:t>Summarize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267712"/>
            <a:ext cx="7955279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Build pivot-style summaries for products, brands, categories, cities, stores, payments, and delivery statuses.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209544"/>
            <a:ext cx="566928" cy="566928"/>
          </a:xfrm>
          <a:prstGeom prst="ellipse">
            <a:avLst/>
          </a:prstGeom>
          <a:solidFill>
            <a:srgbClr val="127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310127"/>
            <a:ext cx="56692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209544"/>
            <a:ext cx="18288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D75BC6"/>
                </a:solidFill>
                <a:latin typeface="Aptos"/>
              </a:rPr>
              <a:t>Visualize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209544"/>
            <a:ext cx="7955279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Use KPI cards, bar charts, a pie chart, a line chart, and a doughnut chart.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151376"/>
            <a:ext cx="566928" cy="566928"/>
          </a:xfrm>
          <a:prstGeom prst="ellipse">
            <a:avLst/>
          </a:prstGeom>
          <a:solidFill>
            <a:srgbClr val="D75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4251960"/>
            <a:ext cx="56692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151376"/>
            <a:ext cx="18288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D75BC6"/>
                </a:solidFill>
                <a:latin typeface="Aptos"/>
              </a:rPr>
              <a:t>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151376"/>
            <a:ext cx="7955279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Use an Order Month slicer to explore a selected reporting period.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093208"/>
            <a:ext cx="566928" cy="566928"/>
          </a:xfrm>
          <a:prstGeom prst="ellipse">
            <a:avLst/>
          </a:prstGeom>
          <a:solidFill>
            <a:srgbClr val="127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5193792"/>
            <a:ext cx="56692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5093208"/>
            <a:ext cx="18288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700" b="1">
                <a:solidFill>
                  <a:srgbClr val="D75BC6"/>
                </a:solidFill>
                <a:latin typeface="Aptos"/>
              </a:rPr>
              <a:t>Communicate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5093208"/>
            <a:ext cx="7955279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Turn operational data into a concise dashboard view for business users.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0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Recommended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>
                <a:solidFill>
                  <a:srgbClr val="E1D7E7"/>
                </a:solidFill>
                <a:latin typeface="Aptos"/>
              </a:rPr>
              <a:t>Ways to make the dashboard more decision-ready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5120640" cy="109728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12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41832" y="1536192"/>
            <a:ext cx="4791455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METRIC DEFINITIONS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1920240"/>
            <a:ext cx="4791455" cy="4754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Document the formula, unit, and reporting period for every KPI.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79" y="1417320"/>
            <a:ext cx="5120640" cy="109728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D75B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19671" y="1536192"/>
            <a:ext cx="4791455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TIME KPI FORMAT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9671" y="1920240"/>
            <a:ext cx="4791455" cy="4754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Resolve the 53:18 display and label average delivery time consistently in minutes.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34640"/>
            <a:ext cx="5120640" cy="109728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73C1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953512"/>
            <a:ext cx="4791455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TREND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337560"/>
            <a:ext cx="4791455" cy="4754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Add monthly revenue, order count, delivery success, and average rating trends.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79" y="2834640"/>
            <a:ext cx="5120640" cy="109728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F78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19671" y="2953512"/>
            <a:ext cx="4791455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DATA HYGIENE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1" y="3337560"/>
            <a:ext cx="4791455" cy="4754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Standardize sheet/field spellings and clarify whether revenue is selling price × quantity.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66160" y="4389120"/>
            <a:ext cx="5120640" cy="1097280"/>
          </a:xfrm>
          <a:prstGeom prst="roundRect">
            <a:avLst/>
          </a:prstGeom>
          <a:solidFill>
            <a:srgbClr val="69166D"/>
          </a:solidFill>
          <a:ln w="19050">
            <a:solidFill>
              <a:srgbClr val="1274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30752" y="4507992"/>
            <a:ext cx="4791455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D75BC6"/>
                </a:solidFill>
                <a:latin typeface="Aptos"/>
              </a:rPr>
              <a:t>ACTIONABLE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30752" y="4892040"/>
            <a:ext cx="4791455" cy="4754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Add a short takeaway section explaining what changed and what action is recommended.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989320"/>
            <a:ext cx="30175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400" b="1">
                <a:solidFill>
                  <a:srgbClr val="D75BC6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695</Words>
  <Application>Microsoft Office PowerPoint</Application>
  <PresentationFormat>Widescreen</PresentationFormat>
  <Paragraphs>100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sahil.razza</dc:creator>
  <cp:keywords/>
  <dc:description>generated using python-pptx</dc:description>
  <cp:lastModifiedBy>Sahil Razza</cp:lastModifiedBy>
  <cp:revision>2</cp:revision>
  <dcterms:created xsi:type="dcterms:W3CDTF">2013-01-27T09:14:16Z</dcterms:created>
  <dcterms:modified xsi:type="dcterms:W3CDTF">2026-10-09T08:07:28Z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2026-10-09T08:07:10Z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ee68804d-3574-4eb9-ad24-ff14eeebaf05</vt:lpwstr>
  </property>
  <property fmtid="{D5CDD505-2E9C-101B-9397-08002B2CF9AE}" pid="7" name="MSIP_Label_defa4170-0d19-0005-0004-bc88714345d2_ActionId">
    <vt:lpwstr>6c3be624-c83b-449f-9511-ac3d6b11e9d3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